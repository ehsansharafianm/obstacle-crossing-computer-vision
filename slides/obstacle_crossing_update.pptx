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2" r:id="rId7"/>
    <p:sldId id="261" r:id="rId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3" d="100"/>
          <a:sy n="103" d="100"/>
        </p:scale>
        <p:origin x="78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999561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82E7F3-E778-C66B-6E31-3FD6A1E089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180871-DCD8-8E06-7DAE-B9631E6163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404F576-2AAF-CE54-7135-22F56C8595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F14B11-A664-2C89-32D0-62994C94B35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015326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jp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A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crossing_hero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537960" y="0"/>
            <a:ext cx="562356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537960" y="0"/>
            <a:ext cx="82296" cy="6858000"/>
          </a:xfrm>
          <a:prstGeom prst="rect">
            <a:avLst/>
          </a:prstGeom>
          <a:solidFill>
            <a:srgbClr val="2EC4B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1"/>
          <p:cNvSpPr/>
          <p:nvPr/>
        </p:nvSpPr>
        <p:spPr>
          <a:xfrm>
            <a:off x="6537960" y="0"/>
            <a:ext cx="5623560" cy="6858000"/>
          </a:xfrm>
          <a:prstGeom prst="rect">
            <a:avLst/>
          </a:prstGeom>
          <a:solidFill>
            <a:srgbClr val="0F2A43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640080" y="114300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kern="0" spc="30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 UPDATE  ·  AUGUST 2026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640080" y="1600200"/>
            <a:ext cx="5943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3D Foot-Clearance Tracking</a:t>
            </a:r>
            <a:endParaRPr lang="en-US" sz="33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Obstacle Crossing</a:t>
            </a:r>
            <a:endParaRPr lang="en-US" sz="3300" dirty="0"/>
          </a:p>
        </p:txBody>
      </p:sp>
      <p:sp>
        <p:nvSpPr>
          <p:cNvPr id="7" name="Text 4"/>
          <p:cNvSpPr/>
          <p:nvPr/>
        </p:nvSpPr>
        <p:spPr>
          <a:xfrm>
            <a:off x="640080" y="3429000"/>
            <a:ext cx="5760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CFE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clean 3D foot trajectory from two consumer iPads — markers, calibration, sync and clearance validated end-to-end.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640080" y="580644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Ehsan Sharafian</a:t>
            </a:r>
            <a:r>
              <a:rPr lang="en-US" sz="1300" dirty="0">
                <a:solidFill>
                  <a:srgbClr val="9DB4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Biomechanics Lab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0F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Foot Markers &amp; Detection</a:t>
            </a:r>
            <a:endParaRPr lang="en-US" sz="3100" dirty="0"/>
          </a:p>
        </p:txBody>
      </p:sp>
      <p:sp>
        <p:nvSpPr>
          <p:cNvPr id="3" name="Shape 1"/>
          <p:cNvSpPr/>
          <p:nvPr/>
        </p:nvSpPr>
        <p:spPr>
          <a:xfrm>
            <a:off x="658368" y="1170432"/>
            <a:ext cx="1371600" cy="54864"/>
          </a:xfrm>
          <a:prstGeom prst="rect">
            <a:avLst/>
          </a:prstGeom>
          <a:solidFill>
            <a:srgbClr val="2EC4B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507492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CE6EE"/>
            </a:solidFill>
            <a:prstDash val="solid"/>
          </a:ln>
          <a:effectLst>
            <a:outerShdw blurRad="101600" dist="38100" dir="5400000" algn="bl" rotWithShape="0">
              <a:srgbClr val="20344A">
                <a:alpha val="2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68680" y="1883664"/>
            <a:ext cx="274320" cy="274320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325880" y="1709928"/>
            <a:ext cx="4251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F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spherical markers on the shoe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1325880" y="2057400"/>
            <a:ext cx="4251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purple = toe, green = heel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40080" y="2560320"/>
            <a:ext cx="507492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CE6EE"/>
            </a:solidFill>
            <a:prstDash val="solid"/>
          </a:ln>
          <a:effectLst>
            <a:outerShdw blurRad="101600" dist="38100" dir="5400000" algn="bl" rotWithShape="0">
              <a:srgbClr val="20344A">
                <a:alpha val="2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868680" y="2843784"/>
            <a:ext cx="274320" cy="274320"/>
          </a:xfrm>
          <a:prstGeom prst="ellipse">
            <a:avLst/>
          </a:prstGeom>
          <a:solidFill>
            <a:srgbClr val="22A55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325880" y="2670048"/>
            <a:ext cx="4251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F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colours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1325880" y="3017520"/>
            <a:ext cx="4251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tracked automatically in both cameras — no manual digitising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520440"/>
            <a:ext cx="507492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CE6EE"/>
            </a:solidFill>
            <a:prstDash val="solid"/>
          </a:ln>
          <a:effectLst>
            <a:outerShdw blurRad="101600" dist="38100" dir="5400000" algn="bl" rotWithShape="0">
              <a:srgbClr val="20344A">
                <a:alpha val="2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868680" y="3803904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1325880" y="3630168"/>
            <a:ext cx="4251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F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Spherical shape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1325880" y="3977640"/>
            <a:ext cx="4251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looks the same from every angle as the foot rotates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" y="4480560"/>
            <a:ext cx="507492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CE6EE"/>
            </a:solidFill>
            <a:prstDash val="solid"/>
          </a:ln>
          <a:effectLst>
            <a:outerShdw blurRad="101600" dist="38100" dir="5400000" algn="bl" rotWithShape="0">
              <a:srgbClr val="20344A">
                <a:alpha val="2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868680" y="4764024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1325880" y="4590288"/>
            <a:ext cx="4251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F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Triangulated to 3D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1325880" y="4937760"/>
            <a:ext cx="4251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marker reconstructed when seen by both cameras</a:t>
            </a:r>
            <a:endParaRPr lang="en-US" sz="1250" dirty="0"/>
          </a:p>
        </p:txBody>
      </p:sp>
      <p:pic>
        <p:nvPicPr>
          <p:cNvPr id="20" name="Image 0" descr="img/markers_closeup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989320" y="1600200"/>
            <a:ext cx="5532120" cy="2788920"/>
          </a:xfrm>
          <a:prstGeom prst="rect">
            <a:avLst/>
          </a:prstGeom>
          <a:effectLst>
            <a:outerShdw blurRad="101600" dist="38100" dir="5400000" algn="bl" rotWithShape="0">
              <a:srgbClr val="20344A">
                <a:alpha val="28000"/>
              </a:srgbClr>
            </a:outerShdw>
          </a:effectLst>
        </p:spPr>
      </p:pic>
      <p:sp>
        <p:nvSpPr>
          <p:cNvPr id="21" name="Text 18"/>
          <p:cNvSpPr/>
          <p:nvPr/>
        </p:nvSpPr>
        <p:spPr>
          <a:xfrm>
            <a:off x="5989320" y="4407408"/>
            <a:ext cx="5532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Purple toe + green heel balls on the shoe</a:t>
            </a:r>
            <a:endParaRPr lang="en-US" sz="1050" dirty="0"/>
          </a:p>
        </p:txBody>
      </p:sp>
      <p:pic>
        <p:nvPicPr>
          <p:cNvPr id="22" name="Image 1" descr="img/detection_overlay.jp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989320" y="4846320"/>
            <a:ext cx="5532120" cy="1691640"/>
          </a:xfrm>
          <a:prstGeom prst="rect">
            <a:avLst/>
          </a:prstGeom>
          <a:effectLst>
            <a:outerShdw blurRad="101600" dist="38100" dir="5400000" algn="bl" rotWithShape="0">
              <a:srgbClr val="20344A">
                <a:alpha val="28000"/>
              </a:srgbClr>
            </a:outerShdw>
          </a:effectLst>
        </p:spPr>
      </p:pic>
      <p:sp>
        <p:nvSpPr>
          <p:cNvPr id="23" name="Text 19"/>
          <p:cNvSpPr/>
          <p:nvPr/>
        </p:nvSpPr>
        <p:spPr>
          <a:xfrm>
            <a:off x="5989320" y="6510528"/>
            <a:ext cx="5532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Automatically detected mid-crossing (toe / heel)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0F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Camera Calibration — once per session</a:t>
            </a:r>
            <a:endParaRPr lang="en-US" sz="3100" dirty="0"/>
          </a:p>
        </p:txBody>
      </p:sp>
      <p:sp>
        <p:nvSpPr>
          <p:cNvPr id="3" name="Shape 1"/>
          <p:cNvSpPr/>
          <p:nvPr/>
        </p:nvSpPr>
        <p:spPr>
          <a:xfrm>
            <a:off x="658368" y="1170432"/>
            <a:ext cx="1371600" cy="54864"/>
          </a:xfrm>
          <a:prstGeom prst="rect">
            <a:avLst/>
          </a:prstGeom>
          <a:solidFill>
            <a:srgbClr val="2EC4B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5212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4000"/>
              </a:lnSpc>
              <a:buNone/>
            </a:pPr>
            <a:r>
              <a:rPr lang="en-US" sz="14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ChArUco board gives each lens's intrinsics, the stereo geometry between the two cameras, and a floor world-frame (Z = height). One command per session; recalibrate whenever the cameras move.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5212080" cy="896112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 w="12700">
            <a:solidFill>
              <a:srgbClr val="DCE6EE"/>
            </a:solidFill>
            <a:prstDash val="solid"/>
          </a:ln>
          <a:effectLst>
            <a:outerShdw blurRad="101600" dist="38100" dir="5400000" algn="bl" rotWithShape="0">
              <a:srgbClr val="20344A">
                <a:alpha val="2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868680" y="3063240"/>
            <a:ext cx="256032" cy="256032"/>
          </a:xfrm>
          <a:prstGeom prst="ellipse">
            <a:avLst/>
          </a:prstGeom>
          <a:solidFill>
            <a:srgbClr val="2EC4B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280160" y="2862072"/>
            <a:ext cx="4389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Stereo reprojection error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280160" y="3200400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0.92 px  ·  baseline 1.86 m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3749040"/>
            <a:ext cx="5212080" cy="896112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 w="12700">
            <a:solidFill>
              <a:srgbClr val="DCE6EE"/>
            </a:solidFill>
            <a:prstDash val="solid"/>
          </a:ln>
          <a:effectLst>
            <a:outerShdw blurRad="101600" dist="38100" dir="5400000" algn="bl" rotWithShape="0">
              <a:srgbClr val="20344A">
                <a:alpha val="2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868680" y="4069080"/>
            <a:ext cx="256032" cy="256032"/>
          </a:xfrm>
          <a:prstGeom prst="ellipse">
            <a:avLst/>
          </a:prstGeom>
          <a:solidFill>
            <a:srgbClr val="2EC4B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280160" y="3867912"/>
            <a:ext cx="4389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Floor world-frame residual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280160" y="4206240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0.65 mm  (flat, well below 3 mm)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40080" y="4754880"/>
            <a:ext cx="5212080" cy="896112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 w="12700">
            <a:solidFill>
              <a:srgbClr val="DCE6EE"/>
            </a:solidFill>
            <a:prstDash val="solid"/>
          </a:ln>
          <a:effectLst>
            <a:outerShdw blurRad="101600" dist="38100" dir="5400000" algn="bl" rotWithShape="0">
              <a:srgbClr val="20344A">
                <a:alpha val="2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868680" y="5074920"/>
            <a:ext cx="256032" cy="256032"/>
          </a:xfrm>
          <a:prstGeom prst="ellipse">
            <a:avLst/>
          </a:prstGeom>
          <a:solidFill>
            <a:srgbClr val="2EC4B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1280160" y="4873752"/>
            <a:ext cx="4389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Recovered camera height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280160" y="5212080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986 mm  — matches the physical setup</a:t>
            </a:r>
            <a:endParaRPr lang="en-US" sz="1250" dirty="0"/>
          </a:p>
        </p:txBody>
      </p:sp>
      <p:pic>
        <p:nvPicPr>
          <p:cNvPr id="17" name="Image 0" descr="img/calib_board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035040" y="1371600"/>
            <a:ext cx="5486400" cy="2423160"/>
          </a:xfrm>
          <a:prstGeom prst="rect">
            <a:avLst/>
          </a:prstGeom>
          <a:effectLst>
            <a:outerShdw blurRad="101600" dist="38100" dir="5400000" algn="bl" rotWithShape="0">
              <a:srgbClr val="20344A">
                <a:alpha val="28000"/>
              </a:srgbClr>
            </a:outerShdw>
          </a:effectLst>
        </p:spPr>
      </p:pic>
      <p:sp>
        <p:nvSpPr>
          <p:cNvPr id="18" name="Text 15"/>
          <p:cNvSpPr/>
          <p:nvPr/>
        </p:nvSpPr>
        <p:spPr>
          <a:xfrm>
            <a:off x="6035040" y="3813048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Extrinsics: board held static at many poses (both cameras)</a:t>
            </a:r>
            <a:endParaRPr lang="en-US" sz="1050" dirty="0"/>
          </a:p>
        </p:txBody>
      </p:sp>
      <p:pic>
        <p:nvPicPr>
          <p:cNvPr id="19" name="Image 1" descr="img/calib_floor.jp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035040" y="4206240"/>
            <a:ext cx="5486400" cy="2286000"/>
          </a:xfrm>
          <a:prstGeom prst="rect">
            <a:avLst/>
          </a:prstGeom>
          <a:effectLst>
            <a:outerShdw blurRad="101600" dist="38100" dir="5400000" algn="bl" rotWithShape="0">
              <a:srgbClr val="20344A">
                <a:alpha val="28000"/>
              </a:srgbClr>
            </a:outerShdw>
          </a:effectLst>
        </p:spPr>
      </p:pic>
      <p:sp>
        <p:nvSpPr>
          <p:cNvPr id="20" name="Text 16"/>
          <p:cNvSpPr/>
          <p:nvPr/>
        </p:nvSpPr>
        <p:spPr>
          <a:xfrm>
            <a:off x="6035040" y="6510528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World frame: board flat on the floor (Z = up)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0F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Synchronising the Cameras — one clap</a:t>
            </a:r>
            <a:endParaRPr lang="en-US" sz="3100" dirty="0"/>
          </a:p>
        </p:txBody>
      </p:sp>
      <p:sp>
        <p:nvSpPr>
          <p:cNvPr id="3" name="Shape 1"/>
          <p:cNvSpPr/>
          <p:nvPr/>
        </p:nvSpPr>
        <p:spPr>
          <a:xfrm>
            <a:off x="658368" y="1170432"/>
            <a:ext cx="1371600" cy="54864"/>
          </a:xfrm>
          <a:prstGeom prst="rect">
            <a:avLst/>
          </a:prstGeom>
          <a:solidFill>
            <a:srgbClr val="2EC4B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img/clap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160520" y="1554480"/>
            <a:ext cx="7452360" cy="2971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40080" y="1600200"/>
            <a:ext cx="384048" cy="384048"/>
          </a:xfrm>
          <a:prstGeom prst="ellipse">
            <a:avLst/>
          </a:prstGeom>
          <a:solidFill>
            <a:srgbClr val="2EC4B6"/>
          </a:solidFill>
          <a:ln/>
          <a:effectLst>
            <a:outerShdw blurRad="101600" dist="38100" dir="5400000" algn="bl" rotWithShape="0">
              <a:srgbClr val="20344A">
                <a:alpha val="2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640080" y="1600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1188720" y="1563624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sharp clap at the start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188720" y="1947672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loud spike in both cameras' audio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40080" y="2770632"/>
            <a:ext cx="384048" cy="384048"/>
          </a:xfrm>
          <a:prstGeom prst="ellipse">
            <a:avLst/>
          </a:prstGeom>
          <a:solidFill>
            <a:srgbClr val="1C7293"/>
          </a:solidFill>
          <a:ln/>
          <a:effectLst>
            <a:outerShdw blurRad="101600" dist="38100" dir="5400000" algn="bl" rotWithShape="0">
              <a:srgbClr val="20344A">
                <a:alpha val="2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640080" y="2770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188720" y="2734056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Aligned to the millisecond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188720" y="3118104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cross-correlate the two audio tracks — no hardware sync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40080" y="3941064"/>
            <a:ext cx="384048" cy="384048"/>
          </a:xfrm>
          <a:prstGeom prst="ellipse">
            <a:avLst/>
          </a:prstGeom>
          <a:solidFill>
            <a:srgbClr val="2EC4B6"/>
          </a:solidFill>
          <a:ln/>
          <a:effectLst>
            <a:outerShdw blurRad="101600" dist="38100" dir="5400000" algn="bl" rotWithShape="0">
              <a:srgbClr val="20344A">
                <a:alpha val="2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640080" y="39410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1188720" y="3904488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off-camera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1188720" y="4288536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only — you needn't be in the frame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40080" y="5111496"/>
            <a:ext cx="384048" cy="384048"/>
          </a:xfrm>
          <a:prstGeom prst="ellipse">
            <a:avLst/>
          </a:prstGeom>
          <a:solidFill>
            <a:srgbClr val="1C7293"/>
          </a:solidFill>
          <a:ln/>
          <a:effectLst>
            <a:outerShdw blurRad="101600" dist="38100" dir="5400000" algn="bl" rotWithShape="0">
              <a:srgbClr val="20344A">
                <a:alpha val="2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640080" y="51114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1188720" y="507492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test06 lock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188720" y="5458968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cam2 + (−5.46 s), confidence 55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4160520" y="4892040"/>
            <a:ext cx="7452360" cy="1417320"/>
          </a:xfrm>
          <a:prstGeom prst="roundRect">
            <a:avLst>
              <a:gd name="adj" fmla="val 6452"/>
            </a:avLst>
          </a:prstGeom>
          <a:solidFill>
            <a:srgbClr val="0F2A43"/>
          </a:solidFill>
          <a:ln/>
          <a:effectLst>
            <a:outerShdw blurRad="101600" dist="38100" dir="5400000" algn="bl" rotWithShape="0">
              <a:srgbClr val="20344A">
                <a:alpha val="2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Text 19"/>
          <p:cNvSpPr/>
          <p:nvPr/>
        </p:nvSpPr>
        <p:spPr>
          <a:xfrm>
            <a:off x="4434840" y="5029200"/>
            <a:ext cx="6903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4000"/>
              </a:lnSpc>
              <a:buNone/>
            </a:pPr>
            <a:r>
              <a:rPr lang="en-US" sz="1350" dirty="0">
                <a:solidFill>
                  <a:srgbClr val="E6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sync: outliers are gated (physically-impossible points dropped) and a rigid-shoe check removes mis-triangulated frames — leaving honest gaps where the foot is out of view.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0F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Result: 3D Foot-Clearance Trajectory</a:t>
            </a:r>
            <a:endParaRPr lang="en-US" sz="3100" dirty="0"/>
          </a:p>
        </p:txBody>
      </p:sp>
      <p:sp>
        <p:nvSpPr>
          <p:cNvPr id="3" name="Shape 1"/>
          <p:cNvSpPr/>
          <p:nvPr/>
        </p:nvSpPr>
        <p:spPr>
          <a:xfrm>
            <a:off x="658368" y="1170432"/>
            <a:ext cx="1371600" cy="54864"/>
          </a:xfrm>
          <a:prstGeom prst="rect">
            <a:avLst/>
          </a:prstGeom>
          <a:solidFill>
            <a:srgbClr val="2EC4B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img/trajectory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160520" y="1325880"/>
            <a:ext cx="7498080" cy="5120640"/>
          </a:xfrm>
          <a:prstGeom prst="rect">
            <a:avLst/>
          </a:prstGeom>
          <a:effectLst>
            <a:outerShdw blurRad="101600" dist="38100" dir="5400000" algn="bl" rotWithShape="0">
              <a:srgbClr val="20344A">
                <a:alpha val="28000"/>
              </a:srgbClr>
            </a:outerShdw>
          </a:effectLst>
        </p:spPr>
      </p:pic>
      <p:sp>
        <p:nvSpPr>
          <p:cNvPr id="5" name="Shape 2"/>
          <p:cNvSpPr/>
          <p:nvPr/>
        </p:nvSpPr>
        <p:spPr>
          <a:xfrm>
            <a:off x="640080" y="1508760"/>
            <a:ext cx="384048" cy="384048"/>
          </a:xfrm>
          <a:prstGeom prst="ellipse">
            <a:avLst/>
          </a:prstGeom>
          <a:solidFill>
            <a:srgbClr val="2EC4B6"/>
          </a:solidFill>
          <a:ln/>
          <a:effectLst>
            <a:outerShdw blurRad="101600" dist="38100" dir="5400000" algn="bl" rotWithShape="0">
              <a:srgbClr val="20344A">
                <a:alpha val="2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640080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1188720" y="14630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F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clearance arcs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1188720" y="1874520"/>
            <a:ext cx="2788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toe &amp; heel rise ~300–500 mm over each crossing, return to a flat ~60 mm baseline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40080" y="3108960"/>
            <a:ext cx="384048" cy="384048"/>
          </a:xfrm>
          <a:prstGeom prst="ellipse">
            <a:avLst/>
          </a:prstGeom>
          <a:solidFill>
            <a:srgbClr val="1C7293"/>
          </a:solidFill>
          <a:ln/>
          <a:effectLst>
            <a:outerShdw blurRad="101600" dist="38100" dir="5400000" algn="bl" rotWithShape="0">
              <a:srgbClr val="20344A">
                <a:alpha val="2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640080" y="3108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188720" y="30632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F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Rigid-body check passes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1188720" y="3474720"/>
            <a:ext cx="2788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toe–heel distance holds ~294 mm (= shoe length), std 17 mm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640080" y="4709160"/>
            <a:ext cx="384048" cy="384048"/>
          </a:xfrm>
          <a:prstGeom prst="ellipse">
            <a:avLst/>
          </a:prstGeom>
          <a:solidFill>
            <a:srgbClr val="2EC4B6"/>
          </a:solidFill>
          <a:ln/>
          <a:effectLst>
            <a:outerShdw blurRad="101600" dist="38100" dir="5400000" algn="bl" rotWithShape="0">
              <a:srgbClr val="20344A">
                <a:alpha val="2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640080" y="4709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1188720" y="46634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F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 3D output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1188720" y="5074920"/>
            <a:ext cx="2788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per-frame X / Y / Z + time for each marker → CSV, one file per test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4160520" y="6473952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Top: toe/heel height over time (clearance).  Bottom: toe–heel distance stays flat = clean 3D.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CBC125-BF7F-749B-39D8-A3EAEA347B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C06C357F-B934-EDCD-729E-55C74E05FA92}"/>
              </a:ext>
            </a:extLst>
          </p:cNvPr>
          <p:cNvSpPr/>
          <p:nvPr/>
        </p:nvSpPr>
        <p:spPr>
          <a:xfrm>
            <a:off x="640080" y="45720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0F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Result: 3D Foot-Clearance Trajectory</a:t>
            </a:r>
            <a:endParaRPr lang="en-US" sz="3100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6BC2CCDC-5AD3-14D8-37DE-931578DBB044}"/>
              </a:ext>
            </a:extLst>
          </p:cNvPr>
          <p:cNvSpPr/>
          <p:nvPr/>
        </p:nvSpPr>
        <p:spPr>
          <a:xfrm>
            <a:off x="658368" y="1170432"/>
            <a:ext cx="1371600" cy="54864"/>
          </a:xfrm>
          <a:prstGeom prst="rect">
            <a:avLst/>
          </a:prstGeom>
          <a:solidFill>
            <a:srgbClr val="2EC4B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E913C41F-B112-CECA-6886-85E91CE0CF62}"/>
              </a:ext>
            </a:extLst>
          </p:cNvPr>
          <p:cNvSpPr/>
          <p:nvPr/>
        </p:nvSpPr>
        <p:spPr>
          <a:xfrm>
            <a:off x="4160520" y="6473952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Top: toe/heel height over time (clearance).  Bottom: toe–heel distance stays flat = clean 3D.</a:t>
            </a:r>
            <a:endParaRPr lang="en-US" sz="1050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351C2033-A207-3DA1-BA03-E3811F98E9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6151" y="1170432"/>
            <a:ext cx="10179698" cy="5131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44882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2A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Status &amp; Next Steps</a:t>
            </a:r>
            <a:endParaRPr lang="en-US" sz="3100" dirty="0"/>
          </a:p>
        </p:txBody>
      </p:sp>
      <p:sp>
        <p:nvSpPr>
          <p:cNvPr id="3" name="Shape 1"/>
          <p:cNvSpPr/>
          <p:nvPr/>
        </p:nvSpPr>
        <p:spPr>
          <a:xfrm>
            <a:off x="658368" y="1170432"/>
            <a:ext cx="1371600" cy="54864"/>
          </a:xfrm>
          <a:prstGeom prst="rect">
            <a:avLst/>
          </a:prstGeom>
          <a:solidFill>
            <a:srgbClr val="2EC4B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40080" y="146304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920240"/>
            <a:ext cx="54406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✓"/>
            </a:pPr>
            <a:r>
              <a:rPr lang="en-US" sz="1450" dirty="0">
                <a:solidFill>
                  <a:srgbClr val="E6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Per-session calibration (validated: 0.9 px, 0.65 mm floor)</a:t>
            </a:r>
            <a:endParaRPr lang="en-US" sz="1450" dirty="0"/>
          </a:p>
          <a:p>
            <a:pPr marL="342900" indent="-342900">
              <a:spcAft>
                <a:spcPts val="900"/>
              </a:spcAft>
              <a:buSzPct val="100000"/>
              <a:buChar char="✓"/>
            </a:pPr>
            <a:r>
              <a:rPr lang="en-US" sz="1450" dirty="0">
                <a:solidFill>
                  <a:srgbClr val="E6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Spherical purple-toe / green-heel marker tracking</a:t>
            </a:r>
            <a:endParaRPr lang="en-US" sz="1450" dirty="0"/>
          </a:p>
          <a:p>
            <a:pPr marL="342900" indent="-342900">
              <a:spcAft>
                <a:spcPts val="900"/>
              </a:spcAft>
              <a:buSzPct val="100000"/>
              <a:buChar char="✓"/>
            </a:pPr>
            <a:r>
              <a:rPr lang="en-US" sz="1450" dirty="0">
                <a:solidFill>
                  <a:srgbClr val="E6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One-clap audio synchronisation (no hardware)</a:t>
            </a:r>
            <a:endParaRPr lang="en-US" sz="1450" dirty="0"/>
          </a:p>
          <a:p>
            <a:pPr marL="342900" indent="-342900">
              <a:spcAft>
                <a:spcPts val="900"/>
              </a:spcAft>
              <a:buSzPct val="100000"/>
              <a:buChar char="✓"/>
            </a:pPr>
            <a:r>
              <a:rPr lang="en-US" sz="1450" dirty="0">
                <a:solidFill>
                  <a:srgbClr val="E6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3D trajectory with real clearance arcs</a:t>
            </a:r>
            <a:endParaRPr lang="en-US" sz="1450" dirty="0"/>
          </a:p>
          <a:p>
            <a:pPr marL="342900" indent="-342900">
              <a:spcAft>
                <a:spcPts val="900"/>
              </a:spcAft>
              <a:buSzPct val="100000"/>
              <a:buChar char="✓"/>
            </a:pPr>
            <a:r>
              <a:rPr lang="en-US" sz="1450" dirty="0">
                <a:solidFill>
                  <a:srgbClr val="E6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Rigid-shoe check: toe–heel std ~17 mm</a:t>
            </a:r>
            <a:endParaRPr lang="en-US" sz="1450" dirty="0"/>
          </a:p>
          <a:p>
            <a:pPr marL="342900" indent="-342900">
              <a:spcAft>
                <a:spcPts val="900"/>
              </a:spcAft>
              <a:buSzPct val="100000"/>
              <a:buChar char="✓"/>
            </a:pPr>
            <a:r>
              <a:rPr lang="en-US" sz="1450" dirty="0">
                <a:solidFill>
                  <a:srgbClr val="E6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One-command workflow (run_calib / run_test) + CSV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309360" y="1463040"/>
            <a:ext cx="5212080" cy="4617720"/>
          </a:xfrm>
          <a:prstGeom prst="roundRect">
            <a:avLst>
              <a:gd name="adj" fmla="val 1980"/>
            </a:avLst>
          </a:prstGeom>
          <a:solidFill>
            <a:srgbClr val="16395C"/>
          </a:solidFill>
          <a:ln/>
          <a:effectLst>
            <a:outerShdw blurRad="101600" dist="38100" dir="5400000" algn="bl" rotWithShape="0">
              <a:srgbClr val="20344A">
                <a:alpha val="2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583680" y="169164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583680" y="2148840"/>
            <a:ext cx="47091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→"/>
            </a:pPr>
            <a:r>
              <a:rPr lang="en-US" sz="1450" dirty="0">
                <a:solidFill>
                  <a:srgbClr val="DC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coverage — continuous crossings so the foot stays in both views</a:t>
            </a:r>
            <a:endParaRPr lang="en-US" sz="1450" dirty="0"/>
          </a:p>
          <a:p>
            <a:pPr marL="342900" indent="-342900">
              <a:spcAft>
                <a:spcPts val="1200"/>
              </a:spcAft>
              <a:buSzPct val="100000"/>
              <a:buChar char="→"/>
            </a:pPr>
            <a:r>
              <a:rPr lang="en-US" sz="1450" dirty="0">
                <a:solidFill>
                  <a:srgbClr val="DC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3rd camera (Pixel 8) to remove occlusion</a:t>
            </a:r>
            <a:endParaRPr lang="en-US" sz="1450" dirty="0"/>
          </a:p>
          <a:p>
            <a:pPr marL="342900" indent="-342900">
              <a:spcAft>
                <a:spcPts val="1200"/>
              </a:spcAft>
              <a:buSzPct val="100000"/>
              <a:buChar char="→"/>
            </a:pPr>
            <a:r>
              <a:rPr lang="en-US" sz="1450" dirty="0">
                <a:solidFill>
                  <a:srgbClr val="DC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 a participant pilot across obstacles</a:t>
            </a:r>
            <a:endParaRPr lang="en-US" sz="1450" dirty="0"/>
          </a:p>
          <a:p>
            <a:pPr marL="342900" indent="-342900">
              <a:spcAft>
                <a:spcPts val="1200"/>
              </a:spcAft>
              <a:buSzPct val="100000"/>
              <a:buChar char="→"/>
            </a:pPr>
            <a:r>
              <a:rPr lang="en-US" sz="1450" dirty="0">
                <a:solidFill>
                  <a:srgbClr val="DC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 in gait-event timing for each crossing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6583680" y="5257800"/>
            <a:ext cx="4709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300" b="1" i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measurement chain works — from raw video to a clean 3D clearance curve.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533</Words>
  <Application>Microsoft Office PowerPoint</Application>
  <PresentationFormat>Widescreen</PresentationFormat>
  <Paragraphs>74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Ehsan Sharafian Moghaddam</cp:lastModifiedBy>
  <cp:revision>2</cp:revision>
  <dcterms:created xsi:type="dcterms:W3CDTF">2026-08-19T21:10:13Z</dcterms:created>
  <dcterms:modified xsi:type="dcterms:W3CDTF">2026-08-19T21:27:57Z</dcterms:modified>
</cp:coreProperties>
</file>