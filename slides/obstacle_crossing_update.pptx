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7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5692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F2A4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mg/setup_detecti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903720" y="0"/>
            <a:ext cx="52578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03720" y="0"/>
            <a:ext cx="73152" cy="68580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Foot-Trajectory Measurement</a:t>
            </a:r>
            <a:endParaRPr lang="en-US" sz="3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Obstacle Crossing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429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two consumer iPads into a validated ~2 mm 3D motion-capture system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57607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Ehsan Sharafian</a:t>
            </a:r>
            <a:r>
              <a:rPr lang="en-US" sz="1300" dirty="0">
                <a:solidFill>
                  <a:srgbClr val="9D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Biomechanics Lab   · 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&amp; Approach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foot clearance and placement during obstacle crossing in 3D — using cameras as the PRIMARY spatial measurement source, with IMUs for gait-event timing.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6400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670048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560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iPads (10th gen)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87121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1080p @ 240 fps, locked focus/exposure, 1x lens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364992"/>
            <a:ext cx="6400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68680" y="3566160"/>
            <a:ext cx="384048" cy="384048"/>
          </a:xfrm>
          <a:prstGeom prst="ellipse">
            <a:avLst/>
          </a:prstGeom>
          <a:solidFill>
            <a:srgbClr val="1C7293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4564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calibration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76732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ChArUco board → lens intrinsics + stereo geometry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64008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8680" y="4462272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446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35254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foot markers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6634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colours (red / teal / magenta) tracked in 3D</a:t>
            </a:r>
            <a:endParaRPr lang="en-US" sz="1250" dirty="0"/>
          </a:p>
        </p:txBody>
      </p:sp>
      <p:pic>
        <p:nvPicPr>
          <p:cNvPr id="24" name="Image 0" descr="img/setup_view2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06640" y="1234440"/>
            <a:ext cx="4114800" cy="4846320"/>
          </a:xfrm>
          <a:prstGeom prst="rect">
            <a:avLst/>
          </a:prstGeom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</p:pic>
      <p:sp>
        <p:nvSpPr>
          <p:cNvPr id="25" name="Text 22"/>
          <p:cNvSpPr/>
          <p:nvPr/>
        </p:nvSpPr>
        <p:spPr>
          <a:xfrm>
            <a:off x="7406640" y="6126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capture volume (floor-taped crossing zone), two-camera view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&amp; Accuracy Validation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4754880" cy="2286000"/>
          </a:xfrm>
          <a:prstGeom prst="roundRect">
            <a:avLst>
              <a:gd name="adj" fmla="val 4000"/>
            </a:avLst>
          </a:prstGeom>
          <a:solidFill>
            <a:srgbClr val="0F2A43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mm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reconstruction accuracy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C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a rigid wand with known marker distances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47548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41248" y="4133088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80160" y="396849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 intrinsics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280160" y="42702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cameras stable &amp; sub-pixel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727448"/>
            <a:ext cx="47548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41248" y="4974336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80160" y="480974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geometry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80160" y="51114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 px error · 2.04 m baseline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5568696"/>
            <a:ext cx="47548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1248" y="5815584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56509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accuracy test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80160" y="59527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mm (clean poses) across the volume</a:t>
            </a:r>
            <a:endParaRPr lang="en-US" sz="1200" dirty="0"/>
          </a:p>
        </p:txBody>
      </p:sp>
      <p:pic>
        <p:nvPicPr>
          <p:cNvPr id="19" name="Image 0" descr="img/bo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852160" y="1371600"/>
            <a:ext cx="5669280" cy="3657600"/>
          </a:xfrm>
          <a:prstGeom prst="rect">
            <a:avLst/>
          </a:prstGeom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</p:pic>
      <p:sp>
        <p:nvSpPr>
          <p:cNvPr id="20" name="Text 17"/>
          <p:cNvSpPr/>
          <p:nvPr/>
        </p:nvSpPr>
        <p:spPr>
          <a:xfrm>
            <a:off x="5852160" y="5074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ChArUco calibration board (printed &amp; measured)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852160" y="55321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calibrate once → reuse for every session. Accuracy proven end-to-end before collecting any participant data.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3D Marker Trajectory in Motion</a:t>
            </a:r>
            <a:endParaRPr lang="en-US" sz="3200" dirty="0"/>
          </a:p>
        </p:txBody>
      </p:sp>
      <p:pic>
        <p:nvPicPr>
          <p:cNvPr id="3" name="Image 0" descr="img/trajecto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97680" y="1280160"/>
            <a:ext cx="7406640" cy="5120640"/>
          </a:xfrm>
          <a:prstGeom prst="rect">
            <a:avLst/>
          </a:prstGeom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640080" y="1417320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8872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moving 3D trajectory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88720" y="1746504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markers tracked &amp; triangulated at every frame as the wand moves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1C7293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88720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188720" y="3163824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rigid wand's known distances stay flat through the motion — sync + tracking + triangulation all work together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4251960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8872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188720" y="4581144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per-frame X / Y / Z for each marker, exported to CSV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297680" y="64008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reconstructed distances stay on the known values (dotted).  Bottom: the markers' 3D paths.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&amp;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Two-iPad system calibrated (intrinsics + stereo)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accuracy validated — ~2 mm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Coloured-marker detection &amp; tracking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Camera-to-camera synchronisation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3D trajectory + CSV export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 cleaning (filter / gap-fill)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309360" y="1371600"/>
            <a:ext cx="5212080" cy="4663440"/>
          </a:xfrm>
          <a:prstGeom prst="roundRect">
            <a:avLst>
              <a:gd name="adj" fmla="val 1961"/>
            </a:avLst>
          </a:prstGeom>
          <a:solidFill>
            <a:srgbClr val="16395C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583680" y="1600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0" y="21031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 pilot: markers on a shoe, one obstacle crossing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 sync + gait events → locate each crossing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clearance &amp; foot-placement metrics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one-command pipeline per participant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6 obstacles × 5 crossings, many participants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83680" y="539496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hardest technical risk — mm-accuracy from consumer cameras — is already retired.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366</Words>
  <Application>Microsoft Office PowerPoint</Application>
  <PresentationFormat>Widescreen</PresentationFormat>
  <Paragraphs>60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Ehsan Sharafian Moghaddam</cp:lastModifiedBy>
  <cp:revision>2</cp:revision>
  <dcterms:created xsi:type="dcterms:W3CDTF">2026-08-17T22:34:02Z</dcterms:created>
  <dcterms:modified xsi:type="dcterms:W3CDTF">2026-08-18T13:11:04Z</dcterms:modified>
</cp:coreProperties>
</file>