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mg/crossing_her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37960" y="0"/>
            <a:ext cx="5623560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537960" y="0"/>
            <a:ext cx="82296" cy="6858000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4" name="Shape 1"/>
          <p:cNvSpPr/>
          <p:nvPr/>
        </p:nvSpPr>
        <p:spPr>
          <a:xfrm>
            <a:off x="6537960" y="0"/>
            <a:ext cx="5623560" cy="6858000"/>
          </a:xfrm>
          <a:prstGeom prst="rect">
            <a:avLst/>
          </a:prstGeom>
          <a:solidFill>
            <a:srgbClr val="0F2A43">
              <a:alpha val="45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640080" y="114300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3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UPDATE  ·  AUGUST 2026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640080" y="1600200"/>
            <a:ext cx="5943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3D Foot-Clearance Tracking</a:t>
            </a:r>
            <a:endParaRPr lang="en-US" sz="3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Obstacle Crossing</a:t>
            </a:r>
            <a:endParaRPr lang="en-US" sz="3300" dirty="0"/>
          </a:p>
        </p:txBody>
      </p:sp>
      <p:sp>
        <p:nvSpPr>
          <p:cNvPr id="7" name="Text 4"/>
          <p:cNvSpPr/>
          <p:nvPr/>
        </p:nvSpPr>
        <p:spPr>
          <a:xfrm>
            <a:off x="640080" y="342900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CFE3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 3D foot trajectory from two consumer iPads — markers, calibration, sync and clearance validated end-to-end.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0080" y="580644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Ehsan Sharafian</a:t>
            </a:r>
            <a:pPr indent="0" marL="0">
              <a:buNone/>
            </a:pPr>
            <a:r>
              <a:rPr lang="en-US" sz="1300" dirty="0">
                <a:solidFill>
                  <a:srgbClr val="9DB4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Biomechanics Lab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Foot Markers &amp; Detection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658368" y="1170432"/>
            <a:ext cx="1371600" cy="54864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600200"/>
            <a:ext cx="50749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38100" dir="5400000">
              <a:srgbClr val="20344A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883664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6" name="Text 4"/>
          <p:cNvSpPr/>
          <p:nvPr/>
        </p:nvSpPr>
        <p:spPr>
          <a:xfrm>
            <a:off x="1325880" y="1709928"/>
            <a:ext cx="4251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spherical markers on the shoe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325880" y="2057400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 = toe, green = heel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560320"/>
            <a:ext cx="50749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38100" dir="5400000">
              <a:srgbClr val="20344A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2843784"/>
            <a:ext cx="274320" cy="274320"/>
          </a:xfrm>
          <a:prstGeom prst="ellipse">
            <a:avLst/>
          </a:prstGeom>
          <a:solidFill>
            <a:srgbClr val="22A559"/>
          </a:solidFill>
          <a:ln/>
        </p:spPr>
      </p:sp>
      <p:sp>
        <p:nvSpPr>
          <p:cNvPr id="10" name="Text 8"/>
          <p:cNvSpPr/>
          <p:nvPr/>
        </p:nvSpPr>
        <p:spPr>
          <a:xfrm>
            <a:off x="1325880" y="2670048"/>
            <a:ext cx="4251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colours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1325880" y="3017520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tracked automatically in both cameras — no manual digitising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520440"/>
            <a:ext cx="50749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38100" dir="5400000">
              <a:srgbClr val="20344A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68680" y="3803904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4" name="Text 12"/>
          <p:cNvSpPr/>
          <p:nvPr/>
        </p:nvSpPr>
        <p:spPr>
          <a:xfrm>
            <a:off x="1325880" y="3630168"/>
            <a:ext cx="4251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Spherical shape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325880" y="3977640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looks the same from every angle as the foot rotates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480560"/>
            <a:ext cx="50749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38100" dir="5400000">
              <a:srgbClr val="20344A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68680" y="4764024"/>
            <a:ext cx="274320" cy="2743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1325880" y="4590288"/>
            <a:ext cx="4251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Triangulated to 3D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325880" y="4937760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marker reconstructed when seen by both cameras</a:t>
            </a:r>
            <a:endParaRPr lang="en-US" sz="1250" dirty="0"/>
          </a:p>
        </p:txBody>
      </p:sp>
      <p:pic>
        <p:nvPicPr>
          <p:cNvPr id="20" name="Image 0" descr="img/markers_closeu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989320" y="1600200"/>
            <a:ext cx="5532120" cy="278892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20344A">
                <a:alpha val="28000"/>
              </a:srgbClr>
            </a:outerShdw>
          </a:effectLst>
        </p:spPr>
      </p:pic>
      <p:sp>
        <p:nvSpPr>
          <p:cNvPr id="21" name="Text 18"/>
          <p:cNvSpPr/>
          <p:nvPr/>
        </p:nvSpPr>
        <p:spPr>
          <a:xfrm>
            <a:off x="5989320" y="440740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 toe + green heel balls on the shoe</a:t>
            </a:r>
            <a:endParaRPr lang="en-US" sz="1050" dirty="0"/>
          </a:p>
        </p:txBody>
      </p:sp>
      <p:pic>
        <p:nvPicPr>
          <p:cNvPr id="22" name="Image 1" descr="img/detection_overlay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989320" y="4846320"/>
            <a:ext cx="5532120" cy="169164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20344A">
                <a:alpha val="28000"/>
              </a:srgbClr>
            </a:outerShdw>
          </a:effectLst>
        </p:spPr>
      </p:pic>
      <p:sp>
        <p:nvSpPr>
          <p:cNvPr id="23" name="Text 19"/>
          <p:cNvSpPr/>
          <p:nvPr/>
        </p:nvSpPr>
        <p:spPr>
          <a:xfrm>
            <a:off x="5989320" y="651052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detected mid-crossing (toe / heel)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Camera Calibration — once per session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658368" y="1170432"/>
            <a:ext cx="1371600" cy="54864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5212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45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ChArUco board gives each lens's intrinsics, the stereo geometry between the two cameras, and a floor world-frame (Z = height). One command per session; recalibrate whenever the cameras move.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521208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38100" dir="5400000">
              <a:srgbClr val="20344A">
                <a:alpha val="2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3063240"/>
            <a:ext cx="256032" cy="256032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7" name="Text 5"/>
          <p:cNvSpPr/>
          <p:nvPr/>
        </p:nvSpPr>
        <p:spPr>
          <a:xfrm>
            <a:off x="1280160" y="2862072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Stereo reprojection error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80160" y="320040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0.92 px  ·  baseline 1.86 m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749040"/>
            <a:ext cx="521208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38100" dir="5400000">
              <a:srgbClr val="20344A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4069080"/>
            <a:ext cx="256032" cy="256032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1" name="Text 9"/>
          <p:cNvSpPr/>
          <p:nvPr/>
        </p:nvSpPr>
        <p:spPr>
          <a:xfrm>
            <a:off x="1280160" y="3867912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world-frame residual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280160" y="420624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0.65 mm  (flat, well below 3 mm)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4754880"/>
            <a:ext cx="521208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CE6EE"/>
            </a:solidFill>
            <a:prstDash val="solid"/>
          </a:ln>
          <a:effectLst>
            <a:outerShdw sx="100000" sy="100000" kx="0" ky="0" algn="bl" rotWithShape="0" blurRad="101600" dist="38100" dir="5400000">
              <a:srgbClr val="20344A">
                <a:alpha val="2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5074920"/>
            <a:ext cx="256032" cy="256032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5" name="Text 13"/>
          <p:cNvSpPr/>
          <p:nvPr/>
        </p:nvSpPr>
        <p:spPr>
          <a:xfrm>
            <a:off x="1280160" y="4873752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Recovered camera height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80160" y="5212080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986 mm  — matches the physical setup</a:t>
            </a:r>
            <a:endParaRPr lang="en-US" sz="1250" dirty="0"/>
          </a:p>
        </p:txBody>
      </p:sp>
      <p:pic>
        <p:nvPicPr>
          <p:cNvPr id="17" name="Image 0" descr="img/calib_boar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035040" y="1371600"/>
            <a:ext cx="5486400" cy="242316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20344A">
                <a:alpha val="28000"/>
              </a:srgbClr>
            </a:outerShdw>
          </a:effectLst>
        </p:spPr>
      </p:pic>
      <p:sp>
        <p:nvSpPr>
          <p:cNvPr id="18" name="Text 15"/>
          <p:cNvSpPr/>
          <p:nvPr/>
        </p:nvSpPr>
        <p:spPr>
          <a:xfrm>
            <a:off x="6035040" y="381304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Extrinsics: board held static at many poses (both cameras)</a:t>
            </a:r>
            <a:endParaRPr lang="en-US" sz="1050" dirty="0"/>
          </a:p>
        </p:txBody>
      </p:sp>
      <p:pic>
        <p:nvPicPr>
          <p:cNvPr id="19" name="Image 1" descr="img/calib_floor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035040" y="4206240"/>
            <a:ext cx="5486400" cy="228600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20344A">
                <a:alpha val="28000"/>
              </a:srgbClr>
            </a:outerShdw>
          </a:effectLst>
        </p:spPr>
      </p:pic>
      <p:sp>
        <p:nvSpPr>
          <p:cNvPr id="20" name="Text 16"/>
          <p:cNvSpPr/>
          <p:nvPr/>
        </p:nvSpPr>
        <p:spPr>
          <a:xfrm>
            <a:off x="6035040" y="651052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frame: board flat on the floor (Z = up)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Synchronising the Cameras — one clap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658368" y="1170432"/>
            <a:ext cx="1371600" cy="54864"/>
          </a:xfrm>
          <a:prstGeom prst="rect">
            <a:avLst/>
          </a:prstGeom>
          <a:solidFill>
            <a:srgbClr val="2EC4B6"/>
          </a:solidFill>
          <a:ln/>
        </p:spPr>
      </p:sp>
      <p:pic>
        <p:nvPicPr>
          <p:cNvPr id="4" name="Image 0" descr="img/cl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60520" y="1554480"/>
            <a:ext cx="7452360" cy="29718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600200"/>
            <a:ext cx="384048" cy="384048"/>
          </a:xfrm>
          <a:prstGeom prst="ellipse">
            <a:avLst/>
          </a:prstGeom>
          <a:solidFill>
            <a:srgbClr val="2EC4B6"/>
          </a:solidFill>
          <a:ln/>
          <a:effectLst>
            <a:outerShdw sx="100000" sy="100000" kx="0" ky="0" algn="bl" rotWithShape="0" blurRad="101600" dist="38100" dir="5400000">
              <a:srgbClr val="20344A">
                <a:alpha val="2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4008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188720" y="156362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sharp clap at the start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188720" y="1947672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loud spike in both cameras' audio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" y="2770632"/>
            <a:ext cx="384048" cy="38404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101600" dist="38100" dir="5400000">
              <a:srgbClr val="20344A">
                <a:alpha val="2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0080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88720" y="273405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Aligned to the millisecond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88720" y="3118104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cross-correlate the two audio tracks — no hardware sync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40080" y="3941064"/>
            <a:ext cx="384048" cy="384048"/>
          </a:xfrm>
          <a:prstGeom prst="ellipse">
            <a:avLst/>
          </a:prstGeom>
          <a:solidFill>
            <a:srgbClr val="2EC4B6"/>
          </a:solidFill>
          <a:ln/>
          <a:effectLst>
            <a:outerShdw sx="100000" sy="100000" kx="0" ky="0" algn="bl" rotWithShape="0" blurRad="101600" dist="38100" dir="5400000">
              <a:srgbClr val="20344A">
                <a:alpha val="2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40080" y="39410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188720" y="390448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off-camera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188720" y="4288536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only — you needn't be in the frame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40080" y="5111496"/>
            <a:ext cx="384048" cy="38404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101600" dist="38100" dir="5400000">
              <a:srgbClr val="20344A">
                <a:alpha val="2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40080" y="5111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188720" y="50749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test06 lock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188720" y="545896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cam2 + (−5.46 s), confidence 55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160520" y="4892040"/>
            <a:ext cx="7452360" cy="1417320"/>
          </a:xfrm>
          <a:prstGeom prst="roundRect">
            <a:avLst>
              <a:gd name="adj" fmla="val 6452"/>
            </a:avLst>
          </a:prstGeom>
          <a:solidFill>
            <a:srgbClr val="0F2A43"/>
          </a:solidFill>
          <a:ln/>
          <a:effectLst>
            <a:outerShdw sx="100000" sy="100000" kx="0" ky="0" algn="bl" rotWithShape="0" blurRad="101600" dist="38100" dir="5400000">
              <a:srgbClr val="20344A">
                <a:alpha val="28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434840" y="5029200"/>
            <a:ext cx="6903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sync: outliers are gated (physically-impossible points dropped) and a rigid-shoe check removes mis-triangulated frames — leaving honest gaps where the foot is out of view.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0F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Result: 3D Foot-Clearance Trajectory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658368" y="1170432"/>
            <a:ext cx="1371600" cy="54864"/>
          </a:xfrm>
          <a:prstGeom prst="rect">
            <a:avLst/>
          </a:prstGeom>
          <a:solidFill>
            <a:srgbClr val="2EC4B6"/>
          </a:solidFill>
          <a:ln/>
        </p:spPr>
      </p:sp>
      <p:pic>
        <p:nvPicPr>
          <p:cNvPr id="4" name="Image 0" descr="img/trajecto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160520" y="1325880"/>
            <a:ext cx="7498080" cy="5120640"/>
          </a:xfrm>
          <a:prstGeom prst="rect">
            <a:avLst/>
          </a:prstGeom>
          <a:effectLst>
            <a:outerShdw sx="100000" sy="100000" kx="0" ky="0" algn="bl" rotWithShape="0" blurRad="101600" dist="38100" dir="5400000">
              <a:srgbClr val="20344A">
                <a:alpha val="28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640080" y="1508760"/>
            <a:ext cx="384048" cy="384048"/>
          </a:xfrm>
          <a:prstGeom prst="ellipse">
            <a:avLst/>
          </a:prstGeom>
          <a:solidFill>
            <a:srgbClr val="2EC4B6"/>
          </a:solidFill>
          <a:ln/>
          <a:effectLst>
            <a:outerShdw sx="100000" sy="100000" kx="0" ky="0" algn="bl" rotWithShape="0" blurRad="101600" dist="38100" dir="5400000">
              <a:srgbClr val="20344A">
                <a:alpha val="2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40080" y="1508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188720" y="1463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clearance arcs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188720" y="187452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toe &amp; heel rise ~300–500 mm over each crossing, return to a flat ~60 mm baseline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0080" y="3108960"/>
            <a:ext cx="384048" cy="384048"/>
          </a:xfrm>
          <a:prstGeom prst="ellipse">
            <a:avLst/>
          </a:prstGeom>
          <a:solidFill>
            <a:srgbClr val="1C7293"/>
          </a:solidFill>
          <a:ln/>
          <a:effectLst>
            <a:outerShdw sx="100000" sy="100000" kx="0" ky="0" algn="bl" rotWithShape="0" blurRad="101600" dist="38100" dir="5400000">
              <a:srgbClr val="20344A">
                <a:alpha val="28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0080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188720" y="30632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Rigid-body check passes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1188720" y="347472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toe–heel distance holds ~294 mm (= shoe length), std 17 mm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40080" y="4709160"/>
            <a:ext cx="384048" cy="384048"/>
          </a:xfrm>
          <a:prstGeom prst="ellipse">
            <a:avLst/>
          </a:prstGeom>
          <a:solidFill>
            <a:srgbClr val="2EC4B6"/>
          </a:solidFill>
          <a:ln/>
          <a:effectLst>
            <a:outerShdw sx="100000" sy="100000" kx="0" ky="0" algn="bl" rotWithShape="0" blurRad="101600" dist="38100" dir="5400000">
              <a:srgbClr val="20344A">
                <a:alpha val="28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40080" y="4709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188720" y="46634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 3D output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1188720" y="5074920"/>
            <a:ext cx="2788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per-frame X / Y / Z + time for each marker → CSV, one file per test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160520" y="6473952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Top: toe/heel height over time (clearance).  Bottom: toe–heel distance stays flat = clean 3D.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Status &amp; Next Steps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658368" y="1170432"/>
            <a:ext cx="1371600" cy="54864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630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54406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4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Per-session calibration (validated: 0.9 px, 0.65 mm floor)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4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Spherical purple-toe / green-heel marker tracking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4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One-clap audio synchronisation (no hardware)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4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3D trajectory with real clearance arcs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4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Rigid-shoe check: toe–heel std ~17 mm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4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One-command workflow (run_calib / run_test) + CSV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309360" y="1463040"/>
            <a:ext cx="5212080" cy="4617720"/>
          </a:xfrm>
          <a:prstGeom prst="roundRect">
            <a:avLst>
              <a:gd name="adj" fmla="val 1980"/>
            </a:avLst>
          </a:prstGeom>
          <a:solidFill>
            <a:srgbClr val="16395C"/>
          </a:solidFill>
          <a:ln/>
          <a:effectLst>
            <a:outerShdw sx="100000" sy="100000" kx="0" ky="0" algn="bl" rotWithShape="0" blurRad="101600" dist="38100" dir="5400000">
              <a:srgbClr val="20344A">
                <a:alpha val="28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583680" y="16916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83680" y="2148840"/>
            <a:ext cx="4709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→"/>
            </a:pPr>
            <a:r>
              <a:rPr lang="en-US" sz="1450" dirty="0">
                <a:solidFill>
                  <a:srgbClr val="DC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coverage — continuous crossings so the foot stays in both views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→"/>
            </a:pPr>
            <a:r>
              <a:rPr lang="en-US" sz="1450" dirty="0">
                <a:solidFill>
                  <a:srgbClr val="DC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3rd camera (Pixel 8) to remove occlusion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→"/>
            </a:pPr>
            <a:r>
              <a:rPr lang="en-US" sz="1450" dirty="0">
                <a:solidFill>
                  <a:srgbClr val="DC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a participant pilot across obstacles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→"/>
            </a:pPr>
            <a:r>
              <a:rPr lang="en-US" sz="1450" dirty="0">
                <a:solidFill>
                  <a:srgbClr val="DC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Fold in gait-event timing for each crossing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583680" y="525780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i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measurement chain works — from raw video to a clean 3D clearance curve.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2026-08-19T21:10:13Z</dcterms:created>
  <dcterms:modified xsi:type="dcterms:W3CDTF">2026-08-19T21:10:13Z</dcterms:modified>
</cp:coreProperties>
</file>