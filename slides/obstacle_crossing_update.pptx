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69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00F6-8263-A91B-C9DF-50FD874C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6E1FB-7959-F5C4-4907-C97D38748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19E42-F704-3B98-F946-00E8C6F83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58CF0-6751-10FA-BF29-182F991F7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96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mg/setup_detect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0"/>
            <a:ext cx="52578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03720" y="0"/>
            <a:ext cx="73152" cy="68580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Foot-Trajectory Measurement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Obstacle Crossing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two consumer iPads into a validated ~2 mm 3D motion-capture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Ehsan Sharafian</a:t>
            </a:r>
            <a:r>
              <a:rPr lang="en-US" sz="1300" dirty="0">
                <a:solidFill>
                  <a:srgbClr val="9D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Biomechanics Lab   · 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foot clearance and placement during obstacle crossing in 3D — using cameras as the PRIMARY spatial measurement source, with IMUs for gait-event timing.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6400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670048"/>
            <a:ext cx="384048" cy="384048"/>
          </a:xfrm>
          <a:prstGeom prst="ellipse">
            <a:avLst/>
          </a:prstGeom>
          <a:solidFill>
            <a:srgbClr val="2EC4B6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560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iPads (10th gen)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8712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@ 240 fps, locked focus/exposure, 1x lens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6400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4564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7673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ChArUco board → lens intrinsics + stereo geometry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6400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462272"/>
            <a:ext cx="384048" cy="384048"/>
          </a:xfrm>
          <a:prstGeom prst="ellipse">
            <a:avLst/>
          </a:prstGeom>
          <a:solidFill>
            <a:srgbClr val="2EC4B6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3525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foot markers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colours (red / teal / magenta) tracked in 3D</a:t>
            </a:r>
            <a:endParaRPr lang="en-US" sz="1250" dirty="0"/>
          </a:p>
        </p:txBody>
      </p:sp>
      <p:pic>
        <p:nvPicPr>
          <p:cNvPr id="24" name="Image 0" descr="img/setup_view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06640" y="1234440"/>
            <a:ext cx="4114800" cy="4846320"/>
          </a:xfrm>
          <a:prstGeom prst="rect">
            <a:avLst/>
          </a:prstGeom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7406640" y="6126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capture volume (floor-taped crossing zone), two-camera view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Accuracy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mm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 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a rigid wand with known marker distances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754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41330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39684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intrinsics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4270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cameras stable &amp; sub-pixel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27448"/>
            <a:ext cx="4754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" y="497433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48097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geometry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5111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 px error · 2.04 m baseline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568696"/>
            <a:ext cx="4754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8155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56509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 accuracy 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5952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mm (clean poses) across the volume</a:t>
            </a:r>
            <a:endParaRPr lang="en-US" sz="1200" dirty="0"/>
          </a:p>
        </p:txBody>
      </p:sp>
      <p:pic>
        <p:nvPicPr>
          <p:cNvPr id="19" name="Image 0" descr="img/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371600"/>
            <a:ext cx="5669280" cy="3657600"/>
          </a:xfrm>
          <a:prstGeom prst="rect">
            <a:avLst/>
          </a:prstGeom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5852160" y="5074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ChArUco calibration board (printed &amp; measured)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52160" y="55321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calibrate once → reuse for every session. Accuracy proven end-to-end before collecting any participant data.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3D Marker Trajectory in Motion</a:t>
            </a:r>
            <a:endParaRPr lang="en-US" sz="3200" dirty="0"/>
          </a:p>
        </p:txBody>
      </p:sp>
      <p:pic>
        <p:nvPicPr>
          <p:cNvPr id="3" name="Image 0" descr="img/trajec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0" y="1280160"/>
            <a:ext cx="7406640" cy="5120640"/>
          </a:xfrm>
          <a:prstGeom prst="rect">
            <a:avLst/>
          </a:prstGeom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2EC4B6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moving 3D trajectory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74650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tracked &amp; triangulated at every frame as the wand moves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8872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88720" y="316382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rigid wand's known distances stay flat through the motion — sync + tracking + triangulation all work together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2EC4B6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88720" y="4581144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X / Y / Z for each marker, exported to CSV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97680" y="64008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reconstructed distances stay on the known values (dotted).  Bottom: the markers' 3D paths.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CF81A-4CD8-35D6-A3FF-504A64DE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5BF64A-67EA-3A62-663C-1E338B6B80C5}"/>
              </a:ext>
            </a:extLst>
          </p:cNvPr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3D Marker Trajectory in Motion</a:t>
            </a:r>
            <a:endParaRPr lang="en-US" sz="3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633C137-408D-84A9-45D2-A1B00EE4FC83}"/>
              </a:ext>
            </a:extLst>
          </p:cNvPr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5C5C483-F98B-B90A-F029-4D36F1C93B73}"/>
              </a:ext>
            </a:extLst>
          </p:cNvPr>
          <p:cNvSpPr/>
          <p:nvPr/>
        </p:nvSpPr>
        <p:spPr>
          <a:xfrm>
            <a:off x="4297680" y="64008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reconstructed distances stay on the known values (dotted).  Bottom: the markers' 3D paths.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B10A5B2-D53A-7345-38E3-0E19BA783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78" r="18437" b="28306"/>
          <a:stretch>
            <a:fillRect/>
          </a:stretch>
        </p:blipFill>
        <p:spPr>
          <a:xfrm>
            <a:off x="279918" y="1807573"/>
            <a:ext cx="5314122" cy="32428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34777F-D128-7F77-D8FE-3BBF6A8C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583" y="1418253"/>
            <a:ext cx="5296483" cy="385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7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Two-iPad system calibrated (intrinsics + stereo)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accuracy validated — ~2 mm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Coloured-marker detection &amp; tracking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Camera-to-camera synchronisation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3D trajectory + CSV export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cleaning (filter / gap-fill)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3716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16395C"/>
          </a:solidFill>
          <a:ln/>
          <a:effectLst>
            <a:outerShdw blurRad="101600" dist="38100" dir="5400000" algn="bl" rotWithShape="0">
              <a:srgbClr val="20344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21031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pilot: markers on a shoe, one obstacle crossing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sync + gait events → locate each crossing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clearance &amp; foot-placement metrics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one-command pipeline per participant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6 obstacles × 5 crossings, many participants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0" y="53949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technical risk — mm-accuracy from consumer cameras — is already retired.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395</Words>
  <Application>Microsoft Office PowerPoint</Application>
  <PresentationFormat>Widescreen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Ehsan Sharafian Moghaddam</cp:lastModifiedBy>
  <cp:revision>3</cp:revision>
  <dcterms:created xsi:type="dcterms:W3CDTF">2026-08-17T22:34:02Z</dcterms:created>
  <dcterms:modified xsi:type="dcterms:W3CDTF">2026-08-18T14:55:03Z</dcterms:modified>
</cp:coreProperties>
</file>